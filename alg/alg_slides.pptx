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2" Type="http://schemas.openxmlformats.org/officeDocument/2006/relationships/slide" Target="slides/slide7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722313" y="3305176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270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10"/>
              </a:spcBef>
              <a:spcAft>
                <a:spcPts val="0"/>
              </a:spcAft>
              <a:buClr>
                <a:srgbClr val="888888"/>
              </a:buClr>
              <a:buSzPts val="1050"/>
              <a:buNone/>
              <a:defRPr sz="105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2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4325" lvl="3" marL="1828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indent="-314325" lvl="4" marL="22860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indent="-314325" lvl="5" marL="27432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indent="-314325" lvl="6" marL="32004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indent="-314325" lvl="7" marL="3657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indent="-314325" lvl="8" marL="4114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200151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4325" lvl="3" marL="1828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 sz="1350"/>
            </a:lvl4pPr>
            <a:lvl5pPr indent="-314325" lvl="4" marL="22860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»"/>
              <a:defRPr sz="1350"/>
            </a:lvl5pPr>
            <a:lvl6pPr indent="-314325" lvl="5" marL="27432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6pPr>
            <a:lvl7pPr indent="-314325" lvl="6" marL="32004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7pPr>
            <a:lvl8pPr indent="-314325" lvl="7" marL="3657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8pPr>
            <a:lvl9pPr indent="-314325" lvl="8" marL="41148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4325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6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6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4325" lvl="2" marL="1371600" algn="l">
              <a:spcBef>
                <a:spcPts val="270"/>
              </a:spcBef>
              <a:spcAft>
                <a:spcPts val="0"/>
              </a:spcAft>
              <a:buClr>
                <a:schemeClr val="dk1"/>
              </a:buClr>
              <a:buSzPts val="1350"/>
              <a:buChar char="•"/>
              <a:defRPr sz="1350"/>
            </a:lvl3pPr>
            <a:lvl4pPr indent="-3048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1" y="204787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1" y="1076326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10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1pPr>
            <a:lvl2pPr indent="-228600" lvl="1" marL="914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150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3pPr>
            <a:lvl4pPr indent="-228600" lvl="3" marL="1828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4pPr>
            <a:lvl5pPr indent="-228600" lvl="4" marL="22860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5pPr>
            <a:lvl6pPr indent="-228600" lvl="5" marL="27432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6pPr>
            <a:lvl7pPr indent="-228600" lvl="6" marL="32004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7pPr>
            <a:lvl8pPr indent="-228600" lvl="7" marL="36576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8pPr>
            <a:lvl9pPr indent="-228600" lvl="8" marL="4114800" algn="l">
              <a:spcBef>
                <a:spcPts val="135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  <a:defRPr sz="675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874764" y="-1217413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5463778" y="1371601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272778" y="-609599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722325" y="2505620"/>
            <a:ext cx="7772400" cy="182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lang="en-US"/>
              <a:t>BRAIN-MACHINE INTERFACES: MAKING COMPUTERS LISTEN TO THE BRAIN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US"/>
              <a:t>What</a:t>
            </a:r>
            <a:r>
              <a:rPr lang="en-US"/>
              <a:t> does it actually take?</a:t>
            </a:r>
            <a:endParaRPr/>
          </a:p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500"/>
              <a:t>Imagine trying to have a conversation in a crowded room — except every person is speaking at the same time, in a language you don’t fully understand, and you need to respond in milliseconds.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500"/>
              <a:t>That’s roughly the problem a brain-machine interface has to solve.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Listen for</a:t>
            </a:r>
            <a:r>
              <a:rPr lang="en-US"/>
              <a:t> </a:t>
            </a:r>
            <a:r>
              <a:rPr b="1" lang="en-US"/>
              <a:t>the signal</a:t>
            </a:r>
            <a:r>
              <a:rPr lang="en-US"/>
              <a:t>  – it’s clearly hard</a:t>
            </a:r>
            <a:endParaRPr/>
          </a:p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500"/>
              <a:t>Before any decoding happens, the raw signal has to be cleaned up. Electrodes pick up dozens of neurons firing at once — the software has to figure out which signal belongs to which cell.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500"/>
              <a:t>No single algorithm does this well on its own. A 2022 study out of France took a different approach: run several algorithms at once, then automatically combine the best results from each.</a:t>
            </a:r>
            <a:endParaRPr sz="15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1500"/>
              <a:t>The payoff?</a:t>
            </a:r>
            <a:r>
              <a:rPr lang="en-US" sz="1500"/>
              <a:t> About </a:t>
            </a:r>
            <a:r>
              <a:rPr i="1" lang="en-US" sz="1500"/>
              <a:t>50% more neurons detected</a:t>
            </a:r>
            <a:r>
              <a:rPr lang="en-US" sz="1500"/>
              <a:t> from the same recording.</a:t>
            </a:r>
            <a:endParaRPr sz="15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500"/>
              <a:t>Once you have clean data, you still have to decode it — turn firing patterns into something meaningful, like “the patient intends to move their left hand.”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500"/>
              <a:t>Researchers tested </a:t>
            </a:r>
            <a:r>
              <a:rPr i="1" lang="en-US" sz="1500"/>
              <a:t>48 different combinations</a:t>
            </a:r>
            <a:r>
              <a:rPr lang="en-US" sz="1500"/>
              <a:t> of processing methods and classifiers across 14 subjects. The winner was a small neural network — 0.03 MB, under 1ms to run — that beat out far larger and more complex approaches.</a:t>
            </a:r>
            <a:endParaRPr sz="15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500"/>
              <a:t>Some widely-used methods actually made things </a:t>
            </a:r>
            <a:r>
              <a:rPr i="1" lang="en-US" sz="1500"/>
              <a:t>worse</a:t>
            </a:r>
            <a:r>
              <a:rPr lang="en-US" sz="1500"/>
              <a:t>. That finding alone is worth knowing.</a:t>
            </a:r>
            <a:endParaRPr sz="1500"/>
          </a:p>
        </p:txBody>
      </p:sp>
      <p:sp>
        <p:nvSpPr>
          <p:cNvPr id="102" name="Google Shape;102;p16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US"/>
              <a:t>What</a:t>
            </a:r>
            <a:r>
              <a:rPr lang="en-US"/>
              <a:t> do you do with the signal?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US"/>
              <a:t>Now</a:t>
            </a:r>
            <a:r>
              <a:rPr lang="en-US"/>
              <a:t> put it on a chip</a:t>
            </a:r>
            <a:endParaRPr/>
          </a:p>
        </p:txBody>
      </p:sp>
      <p:sp>
        <p:nvSpPr>
          <p:cNvPr id="108" name="Google Shape;108;p17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500"/>
              <a:t>L</a:t>
            </a:r>
            <a:r>
              <a:rPr lang="en-US" sz="1500"/>
              <a:t>aptops can run any of these algorithms. The hard part is running them inside a device the size of a pea, implanted in the brain, on a battery that needs to last </a:t>
            </a:r>
            <a:r>
              <a:rPr i="1" lang="en-US" sz="1500"/>
              <a:t>years</a:t>
            </a:r>
            <a:r>
              <a:rPr lang="en-US" sz="1500"/>
              <a:t>.</a:t>
            </a:r>
            <a:endParaRPr sz="15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1500"/>
              <a:t>A 2021 paper from ETH Zurich showed this is possible. Their custom AI model runs on </a:t>
            </a:r>
            <a:r>
              <a:rPr b="1" lang="en-US" sz="1500"/>
              <a:t>2.8 microwatts</a:t>
            </a:r>
            <a:r>
              <a:rPr lang="en-US" sz="1500"/>
              <a:t> — less power than a single blinking LED — and makes decisions 2.5x faster than comparable systems.</a:t>
            </a:r>
            <a:endParaRPr sz="15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1500"/>
              <a:t>Instead of one big model</a:t>
            </a:r>
            <a:r>
              <a:rPr lang="en-US" sz="1500"/>
              <a:t>, use a team of small ones that check each other’s work in parallel.</a:t>
            </a:r>
            <a:endParaRPr sz="15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b="1" lang="en-US"/>
              <a:t>Where</a:t>
            </a:r>
            <a:r>
              <a:rPr lang="en-US"/>
              <a:t> this is heading</a:t>
            </a:r>
            <a:endParaRPr/>
          </a:p>
        </p:txBody>
      </p:sp>
      <p:sp>
        <p:nvSpPr>
          <p:cNvPr id="114" name="Google Shape;114;p18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1500"/>
              <a:t>Llobet, Shevchenko, and Zhu’s publications</a:t>
            </a:r>
            <a:r>
              <a:rPr lang="en-US"/>
              <a:t> </a:t>
            </a:r>
            <a:r>
              <a:rPr lang="en-US" sz="1500"/>
              <a:t>each solve a different piece of the same puzzle:</a:t>
            </a:r>
            <a:endParaRPr sz="1500"/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US" sz="1500"/>
              <a:t>Hear the signal clearly</a:t>
            </a:r>
            <a:endParaRPr sz="1500"/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US" sz="1500"/>
              <a:t>Decode it accurately</a:t>
            </a:r>
            <a:endParaRPr sz="1500"/>
          </a:p>
          <a:p>
            <a:pPr indent="-28575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lang="en-US" sz="1500"/>
              <a:t>Do it fast enough, small enough, cheaply enough to live in the body</a:t>
            </a:r>
            <a:endParaRPr sz="15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1500"/>
              <a:t>None of it is fully solved</a:t>
            </a:r>
            <a:r>
              <a:rPr lang="en-US" sz="1500"/>
              <a:t>. However, the gap between research lab and working implant is closing faster than most realize.</a:t>
            </a:r>
            <a:endParaRPr sz="15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/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</a:pPr>
            <a:r>
              <a:rPr lang="en-US"/>
              <a:t>Sources</a:t>
            </a:r>
            <a:endParaRPr/>
          </a:p>
        </p:txBody>
      </p:sp>
      <p:sp>
        <p:nvSpPr>
          <p:cNvPr id="120" name="Google Shape;120;p19"/>
          <p:cNvSpPr txBox="1"/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Llobet, Wyngaard &amp; Barbour (2022). </a:t>
            </a:r>
            <a:r>
              <a:rPr i="1" lang="en-US"/>
              <a:t>Lussac: automatic post-processing and merging of spike-sorting analyses.</a:t>
            </a:r>
            <a:r>
              <a:rPr lang="en-US"/>
              <a:t> bioRxiv.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Shevchenko, Yeremeieva &amp; Laschowski (2024). </a:t>
            </a:r>
            <a:r>
              <a:rPr i="1" lang="en-US"/>
              <a:t>Comparative analysis of neural decoding algorithms for BMIs.</a:t>
            </a:r>
            <a:r>
              <a:rPr lang="en-US"/>
              <a:t> bioRxiv.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Zhu, Shin &amp; Shoaran (2021). </a:t>
            </a:r>
            <a:r>
              <a:rPr i="1" lang="en-US"/>
              <a:t>Closed-loop neural prostheses with on-chip intelligence.</a:t>
            </a:r>
            <a:r>
              <a:rPr lang="en-US"/>
              <a:t> IEEE TBCAS.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